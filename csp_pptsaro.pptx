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7" r:id="rId2"/>
    <p:sldId id="257" r:id="rId3"/>
    <p:sldId id="258" r:id="rId4"/>
    <p:sldId id="259" r:id="rId5"/>
    <p:sldId id="260" r:id="rId6"/>
    <p:sldId id="262" r:id="rId7"/>
    <p:sldId id="268" r:id="rId8"/>
    <p:sldId id="266"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235" autoAdjust="0"/>
  </p:normalViewPr>
  <p:slideViewPr>
    <p:cSldViewPr snapToGrid="0">
      <p:cViewPr>
        <p:scale>
          <a:sx n="75" d="100"/>
          <a:sy n="75" d="100"/>
        </p:scale>
        <p:origin x="-974" y="-110"/>
      </p:cViewPr>
      <p:guideLst>
        <p:guide orient="horz" pos="2160"/>
        <p:guide pos="3840"/>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4BF52-EA7E-43F4-8A8E-3FFD73A0EFBC}" type="datetimeFigureOut">
              <a:rPr lang="en-IN" smtClean="0"/>
              <a:t>13-04-2025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A11A89-7CCF-40D8-9D1B-FF334742ECE2}" type="slidenum">
              <a:rPr lang="en-IN" smtClean="0"/>
              <a:t>‹#›</a:t>
            </a:fld>
            <a:endParaRPr lang="en-IN"/>
          </a:p>
        </p:txBody>
      </p:sp>
    </p:spTree>
    <p:extLst>
      <p:ext uri="{BB962C8B-B14F-4D97-AF65-F5344CB8AC3E}">
        <p14:creationId xmlns:p14="http://schemas.microsoft.com/office/powerpoint/2010/main" val="1063899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A11A89-7CCF-40D8-9D1B-FF334742ECE2}" type="slidenum">
              <a:rPr lang="en-IN" smtClean="0"/>
              <a:t>4</a:t>
            </a:fld>
            <a:endParaRPr lang="en-IN"/>
          </a:p>
        </p:txBody>
      </p:sp>
    </p:spTree>
    <p:extLst>
      <p:ext uri="{BB962C8B-B14F-4D97-AF65-F5344CB8AC3E}">
        <p14:creationId xmlns:p14="http://schemas.microsoft.com/office/powerpoint/2010/main" val="3684217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E57390-EDE9-A2B3-B9D8-72C650F8D1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A1F09F78-D7CC-AE27-709E-A3005B534B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5026489F-2EC3-1032-CD0F-55B3871A8CF6}"/>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7C493EA5-2931-8B9A-5722-F4028C2A09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E475B20-1000-B8B1-1DF1-974AF588E417}"/>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2211397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BE40B3-734E-DB26-88E7-0F75FE9A25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B72AA00-4EB5-97D3-451F-739362140E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848F9E5-6CDC-1A94-F869-361CFAC599D8}"/>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46CF7FBE-AB9C-7DF7-421F-830DB21FD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B18D0F5-2C4C-4FE8-3677-69F771BBDAE3}"/>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107398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579E03-9EAA-6624-A9B9-0F71C42637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A81D268-A189-A8B6-B474-A9B0AD163B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C9D0582B-8A07-11D5-2BE5-638C98A0B94D}"/>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340A5026-11B2-593E-F4EF-FF9E49DF85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4ED5E25-F358-57CD-F496-225AB7079B83}"/>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242381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4237F0-B183-7435-2538-67734389B1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E406E3D-52B8-9A95-903F-8A5B093D3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B40B57B-FACE-EE16-89F5-FC9A788AB6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A274115-068F-79A3-A252-B3FBB53E1335}"/>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6" name="Footer Placeholder 5">
            <a:extLst>
              <a:ext uri="{FF2B5EF4-FFF2-40B4-BE49-F238E27FC236}">
                <a16:creationId xmlns="" xmlns:a16="http://schemas.microsoft.com/office/drawing/2014/main" id="{96AC06A4-3BA3-6263-4F0C-C88287868D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260E386-B0A3-8C7B-09BD-D9C9FC9AC5AB}"/>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3825786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79421B-80A2-CDF0-83CD-A6C9E88A27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B0E290D-AA4B-24ED-83B1-CBADF1BE4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760007BA-D466-01FF-0574-353D0ADC37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301D25A-6F0C-5C5C-454F-25DDE735D0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64ACF57-AE78-89AF-BFC4-009E02D26E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C626B15C-B155-BCDC-82F8-771DB19BFD54}"/>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8" name="Footer Placeholder 7">
            <a:extLst>
              <a:ext uri="{FF2B5EF4-FFF2-40B4-BE49-F238E27FC236}">
                <a16:creationId xmlns="" xmlns:a16="http://schemas.microsoft.com/office/drawing/2014/main" id="{8A71E602-D21E-8380-D4F3-C49C89193E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B0321CC0-D1EB-8D47-9D03-16FA098D10A5}"/>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3386699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1F5EA1-12D4-B430-E2CB-2AC506FB12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16F61E5E-4466-0026-E978-477F76937FA7}"/>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4" name="Footer Placeholder 3">
            <a:extLst>
              <a:ext uri="{FF2B5EF4-FFF2-40B4-BE49-F238E27FC236}">
                <a16:creationId xmlns="" xmlns:a16="http://schemas.microsoft.com/office/drawing/2014/main" id="{BBEA05FF-E48A-12C0-D32B-A3B58868B8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714E8879-86F0-94AD-118C-5BE6A4A20237}"/>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3305354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6ADB8EC-BF95-1B74-E09C-5207D1BC9A15}"/>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3" name="Footer Placeholder 2">
            <a:extLst>
              <a:ext uri="{FF2B5EF4-FFF2-40B4-BE49-F238E27FC236}">
                <a16:creationId xmlns="" xmlns:a16="http://schemas.microsoft.com/office/drawing/2014/main" id="{1C5CAD61-E0F7-3147-AD7B-7028D83539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7197478-D9D3-A5D3-CBF9-84CC69394660}"/>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97243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0F5A65-7840-FEC7-342E-E822A58576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88E391E-F221-F0F9-7F21-7FC883D68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54A8C2F-BDBF-B686-12B3-2E8C72D94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068D6F6-855D-9C87-1D83-D5A1225866EC}"/>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6" name="Footer Placeholder 5">
            <a:extLst>
              <a:ext uri="{FF2B5EF4-FFF2-40B4-BE49-F238E27FC236}">
                <a16:creationId xmlns="" xmlns:a16="http://schemas.microsoft.com/office/drawing/2014/main" id="{A72EA12B-705B-1BEB-CA12-A5D8E1D89B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CAE326E-46E8-B5D1-3689-DAA93F4E7E5A}"/>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3161160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0AAE01-31AD-7E9E-AA8F-5D9D5A92D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F029A44-A4EB-1208-1B86-829E2F58A3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15B8FBEC-DEDB-57D0-1AE6-B614A8894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12EA4F4-9ADD-C932-3E46-FC8B64B2D977}"/>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6" name="Footer Placeholder 5">
            <a:extLst>
              <a:ext uri="{FF2B5EF4-FFF2-40B4-BE49-F238E27FC236}">
                <a16:creationId xmlns="" xmlns:a16="http://schemas.microsoft.com/office/drawing/2014/main" id="{0DCC885C-AF66-F776-2B7A-F215507A0F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12DD000-EFF0-3F7C-7F81-CDA8F01CE80A}"/>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1732930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EE0650-56C0-9D72-9321-9D1F85A178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3E3B562-E4D7-3BC7-3084-0C1A8B458C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20DEA6B-3698-B616-A805-C10B8E437D91}"/>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3D366C94-1E89-FC6D-7FC2-F3D2EAE990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3A2210A-123B-FA36-7A17-C459AC1E0E80}"/>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1179396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8961CF0-E49A-D66F-8DCF-E58956448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E58DA7D-74FB-2920-9831-82ED61CCEE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CB2585B-E70A-115E-4058-96C7851C23A8}"/>
              </a:ext>
            </a:extLst>
          </p:cNvPr>
          <p:cNvSpPr>
            <a:spLocks noGrp="1"/>
          </p:cNvSpPr>
          <p:nvPr>
            <p:ph type="dt" sz="half" idx="10"/>
          </p:nvPr>
        </p:nvSpPr>
        <p:spPr/>
        <p:txBody>
          <a:body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CF12CC92-789B-5A94-0AB0-4AB1BEF21F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ACBBC38-4B40-6B3E-FC22-0346B8600A65}"/>
              </a:ext>
            </a:extLst>
          </p:cNvPr>
          <p:cNvSpPr>
            <a:spLocks noGrp="1"/>
          </p:cNvSpPr>
          <p:nvPr>
            <p:ph type="sldNum" sz="quarter" idx="12"/>
          </p:nvPr>
        </p:nvSpPr>
        <p:spPr/>
        <p:txBody>
          <a:bodyPr/>
          <a:lstStyle/>
          <a:p>
            <a:fld id="{156DAF92-6D1C-42AA-99AB-07D9BF713CB4}" type="slidenum">
              <a:rPr lang="en-IN" smtClean="0"/>
              <a:t>‹#›</a:t>
            </a:fld>
            <a:endParaRPr lang="en-IN"/>
          </a:p>
        </p:txBody>
      </p:sp>
    </p:spTree>
    <p:extLst>
      <p:ext uri="{BB962C8B-B14F-4D97-AF65-F5344CB8AC3E}">
        <p14:creationId xmlns:p14="http://schemas.microsoft.com/office/powerpoint/2010/main" val="399785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EA31EC1-B996-3386-2335-D4BF7DAE8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8A013A2-F3AA-8933-8E59-66CB8B05B2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6F45151-F221-CD97-2852-54BDDC15D2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58C8AB-C243-4E0F-BB74-BDB3E1DF04C3}" type="datetimeFigureOut">
              <a:rPr lang="en-IN" smtClean="0"/>
              <a:t>13-04-2025</a:t>
            </a:fld>
            <a:endParaRPr lang="en-IN"/>
          </a:p>
        </p:txBody>
      </p:sp>
      <p:sp>
        <p:nvSpPr>
          <p:cNvPr id="5" name="Footer Placeholder 4">
            <a:extLst>
              <a:ext uri="{FF2B5EF4-FFF2-40B4-BE49-F238E27FC236}">
                <a16:creationId xmlns="" xmlns:a16="http://schemas.microsoft.com/office/drawing/2014/main" id="{E7E28C1E-F838-307C-CCAD-4407AC9CD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177D39DB-0226-E0DF-F4E0-A0D906EDF5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DAF92-6D1C-42AA-99AB-07D9BF713CB4}" type="slidenum">
              <a:rPr lang="en-IN" smtClean="0"/>
              <a:t>‹#›</a:t>
            </a:fld>
            <a:endParaRPr lang="en-IN"/>
          </a:p>
        </p:txBody>
      </p:sp>
    </p:spTree>
    <p:extLst>
      <p:ext uri="{BB962C8B-B14F-4D97-AF65-F5344CB8AC3E}">
        <p14:creationId xmlns:p14="http://schemas.microsoft.com/office/powerpoint/2010/main" val="2042114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BA2D9F-F9ED-B073-03DC-310ADE1F138A}"/>
              </a:ext>
            </a:extLst>
          </p:cNvPr>
          <p:cNvSpPr>
            <a:spLocks noGrp="1"/>
          </p:cNvSpPr>
          <p:nvPr>
            <p:ph type="ctrTitle"/>
          </p:nvPr>
        </p:nvSpPr>
        <p:spPr>
          <a:xfrm>
            <a:off x="1524000" y="1122363"/>
            <a:ext cx="9144000" cy="1343045"/>
          </a:xfrm>
        </p:spPr>
        <p:txBody>
          <a:bodyPr>
            <a:normAutofit fontScale="90000"/>
          </a:bodyPr>
          <a:lstStyle/>
          <a:p>
            <a:r>
              <a:rPr lang="en-US" sz="3600" dirty="0"/>
              <a:t/>
            </a:r>
            <a:br>
              <a:rPr lang="en-US" sz="3600" dirty="0"/>
            </a:br>
            <a:r>
              <a:rPr lang="en-US" sz="3600" b="1" dirty="0">
                <a:latin typeface="Times New Roman" pitchFamily="18" charset="0"/>
                <a:cs typeface="Times New Roman" pitchFamily="18" charset="0"/>
              </a:rPr>
              <a:t>Smart Voice-Activated Dustbin: A Step Towards Intelligent Waste Management</a:t>
            </a:r>
            <a:r>
              <a:rPr lang="en-IN" sz="3600" b="1" kern="100" dirty="0">
                <a:solidFill>
                  <a:srgbClr val="000000"/>
                </a:solidFill>
                <a:latin typeface="Times New Roman" panose="02020603050405020304" pitchFamily="18" charset="0"/>
                <a:ea typeface="Times New Roman" panose="02020603050405020304" pitchFamily="18" charset="0"/>
                <a:cs typeface="Times New Roman" pitchFamily="18" charset="0"/>
              </a:rPr>
              <a:t/>
            </a:r>
            <a:br>
              <a:rPr lang="en-IN" sz="3600" b="1" kern="100" dirty="0">
                <a:solidFill>
                  <a:srgbClr val="000000"/>
                </a:solidFill>
                <a:latin typeface="Times New Roman" panose="02020603050405020304" pitchFamily="18" charset="0"/>
                <a:ea typeface="Times New Roman" panose="02020603050405020304" pitchFamily="18" charset="0"/>
                <a:cs typeface="Times New Roman" pitchFamily="18" charset="0"/>
              </a:rPr>
            </a:br>
            <a:endParaRPr lang="en-IN" sz="3600" b="1" dirty="0">
              <a:latin typeface="Times New Roman" pitchFamily="18" charset="0"/>
              <a:cs typeface="Times New Roman" pitchFamily="18" charset="0"/>
            </a:endParaRPr>
          </a:p>
        </p:txBody>
      </p:sp>
      <p:sp>
        <p:nvSpPr>
          <p:cNvPr id="5" name="Subtitle 4">
            <a:extLst>
              <a:ext uri="{FF2B5EF4-FFF2-40B4-BE49-F238E27FC236}">
                <a16:creationId xmlns="" xmlns:a16="http://schemas.microsoft.com/office/drawing/2014/main" id="{0BA0D229-F2E5-06B3-B57F-4CDA9F49B1D7}"/>
              </a:ext>
            </a:extLst>
          </p:cNvPr>
          <p:cNvSpPr>
            <a:spLocks noGrp="1"/>
          </p:cNvSpPr>
          <p:nvPr>
            <p:ph type="subTitle" idx="1"/>
          </p:nvPr>
        </p:nvSpPr>
        <p:spPr>
          <a:xfrm>
            <a:off x="821803" y="2835797"/>
            <a:ext cx="5274197" cy="2899839"/>
          </a:xfrm>
        </p:spPr>
        <p:txBody>
          <a:bodyPr>
            <a:normAutofit/>
          </a:bodyPr>
          <a:lstStyle/>
          <a:p>
            <a:r>
              <a:rPr lang="en-US" dirty="0">
                <a:latin typeface="Times New Roman" panose="02020603050405020304" pitchFamily="18" charset="0"/>
                <a:cs typeface="Times New Roman" panose="02020603050405020304" pitchFamily="18" charset="0"/>
              </a:rPr>
              <a:t>TEAM MEMBERS</a:t>
            </a:r>
            <a:r>
              <a:rPr lang="en-US" dirty="0"/>
              <a:t>:</a:t>
            </a:r>
          </a:p>
          <a:p>
            <a:pPr algn="l"/>
            <a:r>
              <a:rPr lang="en-US" sz="1800" dirty="0" smtClean="0">
                <a:latin typeface="Times New Roman" panose="02020603050405020304" pitchFamily="18" charset="0"/>
                <a:cs typeface="Times New Roman" panose="02020603050405020304" pitchFamily="18" charset="0"/>
              </a:rPr>
              <a:t>R.SARAVANA MUTHUPANDI      </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9922008161</a:t>
            </a:r>
          </a:p>
          <a:p>
            <a:pPr algn="l"/>
            <a:r>
              <a:rPr lang="en-US" sz="1800" dirty="0" smtClean="0">
                <a:latin typeface="Times New Roman" panose="02020603050405020304" pitchFamily="18" charset="0"/>
                <a:cs typeface="Times New Roman" panose="02020603050405020304" pitchFamily="18" charset="0"/>
              </a:rPr>
              <a:t>L.SANTHOSPANDI                     -  9922008160</a:t>
            </a:r>
          </a:p>
          <a:p>
            <a:pPr algn="l"/>
            <a:r>
              <a:rPr lang="en-US" sz="1800" dirty="0" smtClean="0">
                <a:latin typeface="Times New Roman" panose="02020603050405020304" pitchFamily="18" charset="0"/>
                <a:cs typeface="Times New Roman" panose="02020603050405020304" pitchFamily="18" charset="0"/>
              </a:rPr>
              <a:t>V.DHANUSH                              </a:t>
            </a:r>
            <a:r>
              <a:rPr lang="en-US" sz="1800" dirty="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9922008181</a:t>
            </a:r>
            <a:endParaRPr lang="en-US" sz="1800" dirty="0">
              <a:latin typeface="Times New Roman" panose="02020603050405020304" pitchFamily="18" charset="0"/>
              <a:cs typeface="Times New Roman" panose="02020603050405020304" pitchFamily="18" charset="0"/>
            </a:endParaRPr>
          </a:p>
          <a:p>
            <a:pPr algn="l"/>
            <a:r>
              <a:rPr lang="en-US" sz="1800" dirty="0" smtClean="0">
                <a:latin typeface="Times New Roman" panose="02020603050405020304" pitchFamily="18" charset="0"/>
                <a:cs typeface="Times New Roman" panose="02020603050405020304" pitchFamily="18" charset="0"/>
              </a:rPr>
              <a:t>P.U.MOHAMED ITHREES      </a:t>
            </a:r>
            <a:r>
              <a:rPr lang="en-US" sz="1800" dirty="0">
                <a:latin typeface="Times New Roman" panose="02020603050405020304" pitchFamily="18" charset="0"/>
                <a:cs typeface="Times New Roman" panose="02020603050405020304" pitchFamily="18" charset="0"/>
              </a:rPr>
              <a:t>-9922008185</a:t>
            </a:r>
          </a:p>
          <a:p>
            <a:pPr algn="l"/>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400111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1F8C2B2-7BBF-F967-0AC3-16EC116B27F3}"/>
              </a:ext>
            </a:extLst>
          </p:cNvPr>
          <p:cNvSpPr txBox="1"/>
          <p:nvPr/>
        </p:nvSpPr>
        <p:spPr>
          <a:xfrm>
            <a:off x="599768" y="550606"/>
            <a:ext cx="10766322" cy="1004076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ABSTRACT:</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514350" indent="-285750">
              <a:lnSpc>
                <a:spcPct val="107000"/>
              </a:lnSpc>
              <a:spcAft>
                <a:spcPts val="25"/>
              </a:spcAft>
              <a:buFont typeface="Wingdings" pitchFamily="2" charset="2"/>
              <a:buChar char="Ø"/>
            </a:pPr>
            <a:r>
              <a:rPr lang="en-US" sz="2400" dirty="0">
                <a:latin typeface="Times New Roman" panose="02020603050405020304" pitchFamily="18" charset="0"/>
                <a:cs typeface="Times New Roman" panose="02020603050405020304" pitchFamily="18" charset="0"/>
              </a:rPr>
              <a:t>a voice-controlled trash system created for use in roadside areas to improve cleanliness and sanitation efforts while also safeguarding wildlife and encouraging waste management practices. </a:t>
            </a:r>
          </a:p>
          <a:p>
            <a:pPr marL="514350" indent="-285750">
              <a:lnSpc>
                <a:spcPct val="107000"/>
              </a:lnSpc>
              <a:spcAft>
                <a:spcPts val="25"/>
              </a:spcAft>
              <a:buFont typeface="Wingdings" pitchFamily="2" charset="2"/>
              <a:buChar char="Ø"/>
            </a:pPr>
            <a:r>
              <a:rPr lang="en-IN" sz="2400" kern="100" dirty="0" smtClean="0">
                <a:solidFill>
                  <a:srgbClr val="000000"/>
                </a:solidFill>
                <a:effectLst/>
                <a:latin typeface="Times New Roman" panose="02020603050405020304" pitchFamily="18" charset="0"/>
                <a:ea typeface="Times New Roman" panose="02020603050405020304" pitchFamily="18" charset="0"/>
                <a:cs typeface="Times New Roman" pitchFamily="18" charset="0"/>
              </a:rPr>
              <a:t> </a:t>
            </a:r>
            <a:r>
              <a:rPr lang="en-US" sz="2400" dirty="0">
                <a:latin typeface="Times New Roman" pitchFamily="18" charset="0"/>
                <a:cs typeface="Times New Roman" pitchFamily="18" charset="0"/>
              </a:rPr>
              <a:t>Roadside trash can often attract animals such as cows and dogs, which can accidentally consume materials, leading to health concerns. This innovative garbage bin aims to tackle these challenges by limiting access to authorized individuals using voice-activation </a:t>
            </a:r>
            <a:r>
              <a:rPr lang="en-US" sz="2400" dirty="0" smtClean="0">
                <a:latin typeface="Times New Roman" pitchFamily="18" charset="0"/>
                <a:cs typeface="Times New Roman" pitchFamily="18" charset="0"/>
              </a:rPr>
              <a:t>technology</a:t>
            </a:r>
          </a:p>
          <a:p>
            <a:pPr marL="514350" indent="-285750">
              <a:lnSpc>
                <a:spcPct val="107000"/>
              </a:lnSpc>
              <a:spcAft>
                <a:spcPts val="25"/>
              </a:spcAft>
              <a:buFont typeface="Wingdings" pitchFamily="2" charset="2"/>
              <a:buChar char="Ø"/>
            </a:pPr>
            <a:r>
              <a:rPr lang="en-US" sz="2400" dirty="0">
                <a:latin typeface="Times New Roman" pitchFamily="18" charset="0"/>
                <a:cs typeface="Times New Roman" pitchFamily="18" charset="0"/>
              </a:rPr>
              <a:t>By utilizing </a:t>
            </a:r>
            <a:r>
              <a:rPr lang="en-US" sz="2400" dirty="0" err="1">
                <a:latin typeface="Times New Roman" pitchFamily="18" charset="0"/>
                <a:cs typeface="Times New Roman" pitchFamily="18" charset="0"/>
              </a:rPr>
              <a:t>Arduino</a:t>
            </a:r>
            <a:r>
              <a:rPr lang="en-US" sz="2400" dirty="0">
                <a:latin typeface="Times New Roman" pitchFamily="18" charset="0"/>
                <a:cs typeface="Times New Roman" pitchFamily="18" charset="0"/>
              </a:rPr>
              <a:t>-controlled servo motors and real-time voice recognition technology, the bin only opens in response to voice commands and closes automatically to uphold cleanliness</a:t>
            </a:r>
          </a:p>
          <a:p>
            <a:pPr marL="228600">
              <a:lnSpc>
                <a:spcPct val="107000"/>
              </a:lnSpc>
              <a:spcAft>
                <a:spcPts val="25"/>
              </a:spcAft>
            </a:pP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04669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FFD085D5-6F26-C5BF-1CD0-E00905B51201}"/>
              </a:ext>
            </a:extLst>
          </p:cNvPr>
          <p:cNvSpPr txBox="1"/>
          <p:nvPr/>
        </p:nvSpPr>
        <p:spPr>
          <a:xfrm>
            <a:off x="412955" y="530942"/>
            <a:ext cx="11179277" cy="969496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INTRODUCTION:</a:t>
            </a:r>
          </a:p>
          <a:p>
            <a:endParaRPr lang="en-US" sz="2800" dirty="0">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400" dirty="0">
                <a:latin typeface="Times New Roman" pitchFamily="18" charset="0"/>
                <a:cs typeface="Times New Roman" pitchFamily="18" charset="0"/>
              </a:rPr>
              <a:t>Traditional open bins attract stray cows and dogs, leading them to consume harmful materials like plastic</a:t>
            </a:r>
            <a:r>
              <a:rPr lang="en-US" sz="2400" dirty="0" smtClean="0">
                <a:latin typeface="Times New Roman" pitchFamily="18" charset="0"/>
                <a:cs typeface="Times New Roman" pitchFamily="18" charset="0"/>
              </a:rPr>
              <a:t>.</a:t>
            </a:r>
          </a:p>
          <a:p>
            <a:pPr marL="457200" indent="-457200">
              <a:buFont typeface="Wingdings" pitchFamily="2" charset="2"/>
              <a:buChar char="Ø"/>
            </a:pPr>
            <a:r>
              <a:rPr lang="en-US" sz="2400" dirty="0">
                <a:latin typeface="Times New Roman" pitchFamily="18" charset="0"/>
                <a:cs typeface="Times New Roman" pitchFamily="18" charset="0"/>
              </a:rPr>
              <a:t>Children playing near open bins are exposed to dangerous waste, increasing the risk of injury and infections</a:t>
            </a:r>
            <a:r>
              <a:rPr lang="en-US" sz="2400" dirty="0" smtClean="0">
                <a:latin typeface="Times New Roman" pitchFamily="18" charset="0"/>
                <a:cs typeface="Times New Roman" pitchFamily="18" charset="0"/>
              </a:rPr>
              <a:t>.</a:t>
            </a:r>
            <a:endParaRPr lang="en-US" sz="2400" dirty="0">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400" dirty="0">
                <a:latin typeface="Times New Roman" panose="02020603050405020304" pitchFamily="18" charset="0"/>
                <a:cs typeface="Times New Roman" panose="02020603050405020304" pitchFamily="18" charset="0"/>
              </a:rPr>
              <a:t>Unauthorized access to waste increases exposure to rotten or toxic materials, posing health risks</a:t>
            </a:r>
            <a:r>
              <a:rPr lang="en-US" sz="2400" dirty="0" smtClean="0">
                <a:latin typeface="Times New Roman" pitchFamily="18" charset="0"/>
                <a:cs typeface="Times New Roman" pitchFamily="18" charset="0"/>
              </a:rPr>
              <a:t>.</a:t>
            </a:r>
          </a:p>
          <a:p>
            <a:pPr marL="457200" indent="-457200">
              <a:buFont typeface="Wingdings" pitchFamily="2" charset="2"/>
              <a:buChar char="Ø"/>
            </a:pPr>
            <a:r>
              <a:rPr lang="en-US" sz="2400" dirty="0">
                <a:latin typeface="Times New Roman" pitchFamily="18" charset="0"/>
                <a:cs typeface="Times New Roman" pitchFamily="18" charset="0"/>
              </a:rPr>
              <a:t>A voice-activated dustbin system offers a hygienic and secure waste disposal method</a:t>
            </a:r>
            <a:r>
              <a:rPr lang="en-US" sz="2400" dirty="0" smtClean="0">
                <a:latin typeface="Times New Roman" pitchFamily="18" charset="0"/>
                <a:cs typeface="Times New Roman" pitchFamily="18" charset="0"/>
              </a:rPr>
              <a:t>.</a:t>
            </a:r>
          </a:p>
          <a:p>
            <a:pPr marL="457200" indent="-457200">
              <a:buFont typeface="Wingdings" pitchFamily="2" charset="2"/>
              <a:buChar char="Ø"/>
            </a:pPr>
            <a:r>
              <a:rPr lang="en-US" sz="2400" dirty="0" err="1">
                <a:latin typeface="Times New Roman" pitchFamily="18" charset="0"/>
                <a:cs typeface="Times New Roman" pitchFamily="18" charset="0"/>
              </a:rPr>
              <a:t>Arduino</a:t>
            </a:r>
            <a:r>
              <a:rPr lang="en-US" sz="2400" dirty="0">
                <a:latin typeface="Times New Roman" pitchFamily="18" charset="0"/>
                <a:cs typeface="Times New Roman" pitchFamily="18" charset="0"/>
              </a:rPr>
              <a:t>-based technology allows the bin to open only through voice commands, preventing unauthorized access</a:t>
            </a:r>
            <a:r>
              <a:rPr lang="en-US" sz="2400" dirty="0" smtClean="0">
                <a:latin typeface="Times New Roman" pitchFamily="18" charset="0"/>
                <a:cs typeface="Times New Roman" pitchFamily="18" charset="0"/>
              </a:rPr>
              <a:t>.</a:t>
            </a:r>
          </a:p>
          <a:p>
            <a:pPr marL="457200" indent="-457200">
              <a:buFont typeface="Wingdings" pitchFamily="2" charset="2"/>
              <a:buChar char="Ø"/>
            </a:pPr>
            <a:r>
              <a:rPr lang="en-US" sz="2400" dirty="0">
                <a:latin typeface="Times New Roman" pitchFamily="18" charset="0"/>
                <a:cs typeface="Times New Roman" pitchFamily="18" charset="0"/>
              </a:rPr>
              <a:t>Voice-activated dustbin systems contribute to safer, healthier, and cleaner communities through technology-driven waste management.</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0411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DCC51F88-9ECB-F4DA-11A3-7C4BF4C95436}"/>
              </a:ext>
            </a:extLst>
          </p:cNvPr>
          <p:cNvSpPr txBox="1"/>
          <p:nvPr/>
        </p:nvSpPr>
        <p:spPr>
          <a:xfrm>
            <a:off x="335902" y="345125"/>
            <a:ext cx="11749548" cy="612475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FLOW CHART:</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3949" y="1154493"/>
            <a:ext cx="6671331" cy="4920106"/>
          </a:xfrm>
          <a:prstGeom prst="rect">
            <a:avLst/>
          </a:prstGeom>
        </p:spPr>
      </p:pic>
    </p:spTree>
    <p:extLst>
      <p:ext uri="{BB962C8B-B14F-4D97-AF65-F5344CB8AC3E}">
        <p14:creationId xmlns:p14="http://schemas.microsoft.com/office/powerpoint/2010/main" val="282306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1CD7FF80-60D8-D49C-9539-CF38E6C9B202}"/>
              </a:ext>
            </a:extLst>
          </p:cNvPr>
          <p:cNvSpPr txBox="1"/>
          <p:nvPr/>
        </p:nvSpPr>
        <p:spPr>
          <a:xfrm>
            <a:off x="208344" y="274026"/>
            <a:ext cx="11493910" cy="1227259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PROPOSED METHODOLOGY:</a:t>
            </a:r>
          </a:p>
          <a:p>
            <a:endParaRPr lang="en-US" sz="2800" dirty="0">
              <a:latin typeface="Times New Roman" panose="02020603050405020304" pitchFamily="18" charset="0"/>
              <a:cs typeface="Times New Roman" panose="02020603050405020304" pitchFamily="18" charset="0"/>
            </a:endParaRPr>
          </a:p>
          <a:p>
            <a:pPr marL="285750" indent="-285750" algn="just">
              <a:lnSpc>
                <a:spcPct val="95000"/>
              </a:lnSpc>
              <a:spcAft>
                <a:spcPts val="600"/>
              </a:spcAft>
              <a:buFont typeface="Wingdings" pitchFamily="2" charset="2"/>
              <a:buChar char="Ø"/>
              <a:tabLst>
                <a:tab pos="182880" algn="l"/>
              </a:tabLst>
            </a:pPr>
            <a:r>
              <a:rPr lang="en-US" sz="2000" b="1" u="none" strike="noStrike" dirty="0" smtClean="0">
                <a:ln>
                  <a:noFill/>
                </a:ln>
                <a:latin typeface="Times New Roman" panose="02020603050405020304" pitchFamily="18" charset="0"/>
                <a:cs typeface="Times New Roman" panose="02020603050405020304" pitchFamily="18" charset="0"/>
              </a:rPr>
              <a:t> </a:t>
            </a:r>
            <a:r>
              <a:rPr lang="en-US" sz="2000" dirty="0">
                <a:latin typeface="Times New Roman" pitchFamily="18" charset="0"/>
                <a:cs typeface="Times New Roman" pitchFamily="18" charset="0"/>
              </a:rPr>
              <a:t>The voice-activated dustbin is an advanced waste management solution integrating modern technology to ensure hygienic, hands-free disposal of waste</a:t>
            </a:r>
            <a:r>
              <a:rPr lang="en-US" sz="2000" dirty="0" smtClean="0">
                <a:latin typeface="Times New Roman" pitchFamily="18" charset="0"/>
                <a:cs typeface="Times New Roman" pitchFamily="18" charset="0"/>
              </a:rPr>
              <a:t>.</a:t>
            </a:r>
          </a:p>
          <a:p>
            <a:pPr marL="285750" indent="-285750" algn="just">
              <a:lnSpc>
                <a:spcPct val="95000"/>
              </a:lnSpc>
              <a:spcAft>
                <a:spcPts val="600"/>
              </a:spcAft>
              <a:buFont typeface="Wingdings" pitchFamily="2" charset="2"/>
              <a:buChar char="Ø"/>
              <a:tabLst>
                <a:tab pos="182880" algn="l"/>
              </a:tabLst>
            </a:pPr>
            <a:r>
              <a:rPr lang="en-US" sz="2000" dirty="0">
                <a:latin typeface="Times New Roman" pitchFamily="18" charset="0"/>
                <a:cs typeface="Times New Roman" pitchFamily="18" charset="0"/>
              </a:rPr>
              <a:t>It consists of </a:t>
            </a:r>
            <a:r>
              <a:rPr lang="en-US" sz="2000" dirty="0" err="1">
                <a:latin typeface="Times New Roman" pitchFamily="18" charset="0"/>
                <a:cs typeface="Times New Roman" pitchFamily="18" charset="0"/>
              </a:rPr>
              <a:t>Arduino</a:t>
            </a:r>
            <a:r>
              <a:rPr lang="en-US" sz="2000" dirty="0">
                <a:latin typeface="Times New Roman" pitchFamily="18" charset="0"/>
                <a:cs typeface="Times New Roman" pitchFamily="18" charset="0"/>
              </a:rPr>
              <a:t> Uno, a servo motor, and a speech recognition system that processes voice commands for lid operation</a:t>
            </a:r>
            <a:r>
              <a:rPr lang="en-US" sz="2000" dirty="0" smtClean="0">
                <a:latin typeface="Times New Roman" pitchFamily="18" charset="0"/>
                <a:cs typeface="Times New Roman" pitchFamily="18" charset="0"/>
              </a:rPr>
              <a:t>.</a:t>
            </a:r>
          </a:p>
          <a:p>
            <a:pPr algn="just">
              <a:lnSpc>
                <a:spcPct val="95000"/>
              </a:lnSpc>
              <a:spcAft>
                <a:spcPts val="600"/>
              </a:spcAft>
              <a:tabLst>
                <a:tab pos="182880" algn="l"/>
              </a:tabLst>
            </a:pPr>
            <a:endParaRPr lang="en-US" sz="2000" b="1" u="none" strike="noStrike" dirty="0">
              <a:ln>
                <a:noFill/>
              </a:ln>
              <a:latin typeface="Times New Roman" panose="02020603050405020304" pitchFamily="18" charset="0"/>
              <a:cs typeface="Times New Roman" panose="02020603050405020304" pitchFamily="18" charset="0"/>
            </a:endParaRPr>
          </a:p>
          <a:p>
            <a:pPr algn="just">
              <a:lnSpc>
                <a:spcPct val="95000"/>
              </a:lnSpc>
              <a:spcAft>
                <a:spcPts val="600"/>
              </a:spcAft>
              <a:tabLst>
                <a:tab pos="182880" algn="l"/>
              </a:tabLst>
            </a:pPr>
            <a:r>
              <a:rPr lang="en-IN" sz="2000" b="1" dirty="0">
                <a:latin typeface="Times New Roman" pitchFamily="18" charset="0"/>
                <a:cs typeface="Times New Roman" pitchFamily="18" charset="0"/>
              </a:rPr>
              <a:t>Working Mechanism</a:t>
            </a:r>
            <a:r>
              <a:rPr lang="en-IN" sz="2000" b="1" dirty="0" smtClean="0">
                <a:latin typeface="Times New Roman" pitchFamily="18" charset="0"/>
                <a:cs typeface="Times New Roman" pitchFamily="18" charset="0"/>
              </a:rPr>
              <a:t>:</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Voice Command Input:</a:t>
            </a:r>
            <a:r>
              <a:rPr lang="en-US" sz="2000" dirty="0">
                <a:latin typeface="Times New Roman" pitchFamily="18" charset="0"/>
                <a:cs typeface="Times New Roman" pitchFamily="18" charset="0"/>
              </a:rPr>
              <a:t> The microphone captures voice </a:t>
            </a:r>
            <a:r>
              <a:rPr lang="en-US" sz="2000" dirty="0" smtClean="0">
                <a:latin typeface="Times New Roman" pitchFamily="18" charset="0"/>
                <a:cs typeface="Times New Roman" pitchFamily="18" charset="0"/>
              </a:rPr>
              <a:t>commands</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Audio Processing:</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Google Speech Recognition API converts voice commands into text</a:t>
            </a:r>
            <a:r>
              <a:rPr lang="en-US" sz="2000" dirty="0" smtClean="0">
                <a:latin typeface="Times New Roman" pitchFamily="18" charset="0"/>
                <a:cs typeface="Times New Roman" pitchFamily="18" charset="0"/>
              </a:rPr>
              <a:t>.</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Command Validation:</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system identifies valid commands like "open" or "close</a:t>
            </a:r>
            <a:r>
              <a:rPr lang="en-US" sz="2000" dirty="0" smtClean="0">
                <a:latin typeface="Times New Roman" pitchFamily="18" charset="0"/>
                <a:cs typeface="Times New Roman" pitchFamily="18" charset="0"/>
              </a:rPr>
              <a:t>.“</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Signal Transmission:</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Python script transmits recognized commands to Arduino Uno using serial communication via </a:t>
            </a:r>
            <a:r>
              <a:rPr lang="en-US" sz="2000" dirty="0" err="1">
                <a:latin typeface="Times New Roman" pitchFamily="18" charset="0"/>
                <a:cs typeface="Times New Roman" pitchFamily="18" charset="0"/>
              </a:rPr>
              <a:t>PySerial</a:t>
            </a:r>
            <a:r>
              <a:rPr lang="en-US" sz="2000" dirty="0">
                <a:latin typeface="Times New Roman" pitchFamily="18" charset="0"/>
                <a:cs typeface="Times New Roman" pitchFamily="18" charset="0"/>
              </a:rPr>
              <a:t>.</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Servo Motor Control:</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Arduino instructs the servo motor to open or close the dustbin lid.</a:t>
            </a:r>
          </a:p>
          <a:p>
            <a:pPr marL="285750" indent="-285750" algn="just">
              <a:lnSpc>
                <a:spcPct val="95000"/>
              </a:lnSpc>
              <a:spcAft>
                <a:spcPts val="600"/>
              </a:spcAft>
              <a:buFont typeface="Wingdings" pitchFamily="2" charset="2"/>
              <a:buChar char="Ø"/>
              <a:tabLst>
                <a:tab pos="182880" algn="l"/>
              </a:tabLst>
            </a:pPr>
            <a:r>
              <a:rPr lang="en-US" sz="2000" b="1" dirty="0">
                <a:latin typeface="Times New Roman" pitchFamily="18" charset="0"/>
                <a:cs typeface="Times New Roman" pitchFamily="18" charset="0"/>
              </a:rPr>
              <a:t>Auto Closure Feature:</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If </a:t>
            </a:r>
            <a:r>
              <a:rPr lang="en-US" sz="2000" dirty="0">
                <a:latin typeface="Times New Roman" pitchFamily="18" charset="0"/>
                <a:cs typeface="Times New Roman" pitchFamily="18" charset="0"/>
              </a:rPr>
              <a:t>no "close" command is received within 2 seconds, the lid closes automatically.</a:t>
            </a:r>
          </a:p>
          <a:p>
            <a:pPr marL="285750" indent="-285750" algn="just">
              <a:lnSpc>
                <a:spcPct val="95000"/>
              </a:lnSpc>
              <a:spcAft>
                <a:spcPts val="600"/>
              </a:spcAft>
              <a:buFont typeface="Wingdings" pitchFamily="2" charset="2"/>
              <a:buChar char="Ø"/>
              <a:tabLst>
                <a:tab pos="182880" algn="l"/>
              </a:tabLst>
            </a:pPr>
            <a:endParaRPr lang="en-US" dirty="0"/>
          </a:p>
          <a:p>
            <a:pPr algn="just">
              <a:lnSpc>
                <a:spcPct val="95000"/>
              </a:lnSpc>
              <a:spcAft>
                <a:spcPts val="600"/>
              </a:spcAft>
              <a:tabLst>
                <a:tab pos="182880" algn="l"/>
              </a:tabLst>
            </a:pPr>
            <a:endParaRPr lang="en-US" dirty="0"/>
          </a:p>
          <a:p>
            <a:pPr marL="285750" indent="-285750" algn="just">
              <a:lnSpc>
                <a:spcPct val="95000"/>
              </a:lnSpc>
              <a:spcAft>
                <a:spcPts val="600"/>
              </a:spcAft>
              <a:buFont typeface="Wingdings" pitchFamily="2" charset="2"/>
              <a:buChar char="Ø"/>
              <a:tabLst>
                <a:tab pos="182880" algn="l"/>
              </a:tabLst>
            </a:pPr>
            <a:endParaRPr lang="en-US" dirty="0" smtClean="0"/>
          </a:p>
          <a:p>
            <a:pPr marL="285750" indent="-285750" algn="just">
              <a:lnSpc>
                <a:spcPct val="95000"/>
              </a:lnSpc>
              <a:spcAft>
                <a:spcPts val="600"/>
              </a:spcAft>
              <a:buFont typeface="Wingdings" pitchFamily="2" charset="2"/>
              <a:buChar char="Ø"/>
              <a:tabLst>
                <a:tab pos="182880" algn="l"/>
              </a:tabLst>
            </a:pPr>
            <a:endParaRPr lang="en-US" dirty="0"/>
          </a:p>
          <a:p>
            <a:pPr marL="285750" indent="-285750" algn="just">
              <a:lnSpc>
                <a:spcPct val="95000"/>
              </a:lnSpc>
              <a:spcAft>
                <a:spcPts val="600"/>
              </a:spcAft>
              <a:buFont typeface="Wingdings" pitchFamily="2" charset="2"/>
              <a:buChar char="Ø"/>
              <a:tabLst>
                <a:tab pos="182880" algn="l"/>
              </a:tabLst>
            </a:pPr>
            <a:endParaRPr lang="en-US" b="1" u="none" strike="noStrike" dirty="0">
              <a:ln>
                <a:noFill/>
              </a:ln>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515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1BB8443-0492-DFBC-9568-3DD149FC9FF9}"/>
              </a:ext>
            </a:extLst>
          </p:cNvPr>
          <p:cNvSpPr txBox="1"/>
          <p:nvPr/>
        </p:nvSpPr>
        <p:spPr>
          <a:xfrm>
            <a:off x="294639" y="312515"/>
            <a:ext cx="11667281" cy="567071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RESULT AND ANALYSIS: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07600" y="923551"/>
            <a:ext cx="5059681" cy="5059681"/>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1068" y="1428506"/>
            <a:ext cx="5399692" cy="4049769"/>
          </a:xfrm>
          <a:prstGeom prst="rect">
            <a:avLst/>
          </a:prstGeom>
        </p:spPr>
      </p:pic>
    </p:spTree>
    <p:extLst>
      <p:ext uri="{BB962C8B-B14F-4D97-AF65-F5344CB8AC3E}">
        <p14:creationId xmlns:p14="http://schemas.microsoft.com/office/powerpoint/2010/main" val="3720086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1BB8443-0492-DFBC-9568-3DD149FC9FF9}"/>
              </a:ext>
            </a:extLst>
          </p:cNvPr>
          <p:cNvSpPr txBox="1"/>
          <p:nvPr/>
        </p:nvSpPr>
        <p:spPr>
          <a:xfrm>
            <a:off x="426720" y="383635"/>
            <a:ext cx="11667281" cy="5670717"/>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ANALYSIS</a:t>
            </a:r>
            <a:r>
              <a:rPr lang="en-US" sz="28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652926306"/>
              </p:ext>
            </p:extLst>
          </p:nvPr>
        </p:nvGraphicFramePr>
        <p:xfrm>
          <a:off x="2265680" y="885510"/>
          <a:ext cx="5994400" cy="4923900"/>
        </p:xfrm>
        <a:graphic>
          <a:graphicData uri="http://schemas.openxmlformats.org/drawingml/2006/table">
            <a:tbl>
              <a:tblPr>
                <a:tableStyleId>{5C22544A-7EE6-4342-B048-85BDC9FD1C3A}</a:tableStyleId>
              </a:tblPr>
              <a:tblGrid>
                <a:gridCol w="2171857"/>
                <a:gridCol w="862684"/>
                <a:gridCol w="1066591"/>
                <a:gridCol w="1003850"/>
                <a:gridCol w="889418"/>
              </a:tblGrid>
              <a:tr h="227895">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Metrics</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Proposed </a:t>
                      </a:r>
                    </a:p>
                    <a:p>
                      <a:pPr marL="0" marR="0" algn="just">
                        <a:spcBef>
                          <a:spcPts val="0"/>
                        </a:spcBef>
                        <a:spcAft>
                          <a:spcPts val="0"/>
                        </a:spcAft>
                      </a:pPr>
                      <a:r>
                        <a:rPr lang="en-IN" sz="1400" b="1" kern="100" dirty="0">
                          <a:effectLst/>
                          <a:latin typeface="Times New Roman" pitchFamily="18" charset="0"/>
                          <a:cs typeface="Times New Roman" pitchFamily="18" charset="0"/>
                        </a:rPr>
                        <a:t>system</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Voice control </a:t>
                      </a:r>
                    </a:p>
                    <a:p>
                      <a:pPr marL="0" marR="0" algn="just">
                        <a:spcBef>
                          <a:spcPts val="0"/>
                        </a:spcBef>
                        <a:spcAft>
                          <a:spcPts val="0"/>
                        </a:spcAft>
                      </a:pPr>
                      <a:r>
                        <a:rPr lang="en-IN" sz="1400" b="1" kern="100" dirty="0">
                          <a:effectLst/>
                          <a:latin typeface="Times New Roman" pitchFamily="18" charset="0"/>
                          <a:cs typeface="Times New Roman" pitchFamily="18" charset="0"/>
                        </a:rPr>
                        <a:t>Robot[10]</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Voice control</a:t>
                      </a:r>
                    </a:p>
                    <a:p>
                      <a:pPr marL="0" marR="0" algn="just">
                        <a:spcBef>
                          <a:spcPts val="0"/>
                        </a:spcBef>
                        <a:spcAft>
                          <a:spcPts val="0"/>
                        </a:spcAft>
                      </a:pPr>
                      <a:r>
                        <a:rPr lang="en-IN" sz="1400" b="1" kern="100" dirty="0">
                          <a:effectLst/>
                          <a:latin typeface="Times New Roman" pitchFamily="18" charset="0"/>
                          <a:cs typeface="Times New Roman" pitchFamily="18" charset="0"/>
                        </a:rPr>
                        <a:t>Waste system[12]</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b="1" kern="100" dirty="0" err="1">
                          <a:effectLst/>
                          <a:latin typeface="Times New Roman" pitchFamily="18" charset="0"/>
                          <a:cs typeface="Times New Roman" pitchFamily="18" charset="0"/>
                        </a:rPr>
                        <a:t>IoT</a:t>
                      </a:r>
                      <a:endParaRPr lang="en-IN" sz="1400" b="1" kern="100" dirty="0">
                        <a:effectLst/>
                        <a:latin typeface="Times New Roman" pitchFamily="18" charset="0"/>
                        <a:cs typeface="Times New Roman" pitchFamily="18" charset="0"/>
                      </a:endParaRPr>
                    </a:p>
                    <a:p>
                      <a:pPr marL="0" marR="0" algn="just">
                        <a:spcBef>
                          <a:spcPts val="0"/>
                        </a:spcBef>
                        <a:spcAft>
                          <a:spcPts val="0"/>
                        </a:spcAft>
                      </a:pPr>
                      <a:r>
                        <a:rPr lang="en-IN" sz="1400" b="1" kern="100" dirty="0">
                          <a:effectLst/>
                          <a:latin typeface="Times New Roman" pitchFamily="18" charset="0"/>
                          <a:cs typeface="Times New Roman" pitchFamily="18" charset="0"/>
                        </a:rPr>
                        <a:t>Based waste bin[5,6]</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10652">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Voice recognition accuracy  -30db,60db,90db</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98%,90%,85%</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96%,85%,80%</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95%,87%,78%</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N/A</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10596">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Maximum Interaction distance(Quiet)</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3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3.5 meters</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3 meters</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N/A</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85631">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Maximum Interaction distance(Moderate)</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2.5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3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2.5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N/A</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0516">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Maximum Interaction Distance (High Noise)</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2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1.5 meters</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1.5 meters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N/A</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10275">
                <a:tc>
                  <a:txBody>
                    <a:bodyPr/>
                    <a:lstStyle/>
                    <a:p>
                      <a:pPr marL="0" marR="0" algn="just">
                        <a:spcBef>
                          <a:spcPts val="0"/>
                        </a:spcBef>
                        <a:spcAft>
                          <a:spcPts val="0"/>
                        </a:spcAft>
                      </a:pPr>
                      <a:r>
                        <a:rPr lang="en-IN" sz="1400" b="1" kern="100">
                          <a:effectLst/>
                          <a:latin typeface="Times New Roman" pitchFamily="18" charset="0"/>
                          <a:cs typeface="Times New Roman" pitchFamily="18" charset="0"/>
                        </a:rPr>
                        <a:t>Response Time</a:t>
                      </a:r>
                      <a:endParaRPr lang="en-IN" sz="1400" b="1"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1.3 – 1.7 </a:t>
                      </a:r>
                      <a:r>
                        <a:rPr lang="en-IN" sz="1400" kern="100" dirty="0" err="1">
                          <a:effectLst/>
                          <a:latin typeface="Times New Roman" pitchFamily="18" charset="0"/>
                          <a:cs typeface="Times New Roman" pitchFamily="18" charset="0"/>
                        </a:rPr>
                        <a:t>secs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2.0-2.5 </a:t>
                      </a:r>
                      <a:r>
                        <a:rPr lang="en-IN" sz="1400" kern="100" dirty="0" err="1">
                          <a:effectLst/>
                          <a:latin typeface="Times New Roman" pitchFamily="18" charset="0"/>
                          <a:cs typeface="Times New Roman" pitchFamily="18" charset="0"/>
                        </a:rPr>
                        <a:t>secs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2.0-2.5 </a:t>
                      </a:r>
                      <a:r>
                        <a:rPr lang="en-IN" sz="1400" kern="100" dirty="0" err="1">
                          <a:effectLst/>
                          <a:latin typeface="Times New Roman" pitchFamily="18" charset="0"/>
                          <a:cs typeface="Times New Roman" pitchFamily="18" charset="0"/>
                        </a:rPr>
                        <a:t>secs</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N/A</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52927">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Servo motor success rate</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97%</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95%</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94%</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100%(Relay based)</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0717">
                <a:tc>
                  <a:txBody>
                    <a:bodyPr/>
                    <a:lstStyle/>
                    <a:p>
                      <a:pPr marL="0" marR="0" algn="just">
                        <a:spcBef>
                          <a:spcPts val="0"/>
                        </a:spcBef>
                        <a:spcAft>
                          <a:spcPts val="0"/>
                        </a:spcAft>
                      </a:pPr>
                      <a:r>
                        <a:rPr lang="en-IN" sz="1400" b="1" kern="100">
                          <a:effectLst/>
                          <a:latin typeface="Times New Roman" pitchFamily="18" charset="0"/>
                          <a:cs typeface="Times New Roman" pitchFamily="18" charset="0"/>
                        </a:rPr>
                        <a:t>Power consumption(Active mode)</a:t>
                      </a:r>
                      <a:endParaRPr lang="en-IN" sz="1400" b="1"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2.5W</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3.5W</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4W</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5W</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2801">
                <a:tc>
                  <a:txBody>
                    <a:bodyPr/>
                    <a:lstStyle/>
                    <a:p>
                      <a:pPr marL="0" marR="0" algn="just">
                        <a:spcBef>
                          <a:spcPts val="0"/>
                        </a:spcBef>
                        <a:spcAft>
                          <a:spcPts val="0"/>
                        </a:spcAft>
                      </a:pPr>
                      <a:r>
                        <a:rPr lang="en-IN" sz="1400" b="1" kern="100" dirty="0">
                          <a:effectLst/>
                          <a:latin typeface="Times New Roman" pitchFamily="18" charset="0"/>
                          <a:cs typeface="Times New Roman" pitchFamily="18" charset="0"/>
                        </a:rPr>
                        <a:t>Power consumption(Standby mode)</a:t>
                      </a:r>
                      <a:endParaRPr lang="en-IN" sz="1400" b="1"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0.3W</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0.7W</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a:effectLst/>
                          <a:latin typeface="Times New Roman" pitchFamily="18" charset="0"/>
                          <a:cs typeface="Times New Roman" pitchFamily="18" charset="0"/>
                        </a:rPr>
                        <a:t>0.5W</a:t>
                      </a:r>
                      <a:endParaRPr lang="en-IN" sz="1400" kern="10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IN" sz="1400" kern="100" dirty="0">
                          <a:effectLst/>
                          <a:latin typeface="Times New Roman" pitchFamily="18" charset="0"/>
                          <a:cs typeface="Times New Roman" pitchFamily="18" charset="0"/>
                        </a:rPr>
                        <a:t>0.5W</a:t>
                      </a:r>
                      <a:endParaRPr lang="en-IN" sz="1400" kern="100" dirty="0">
                        <a:effectLst/>
                        <a:latin typeface="Times New Roman" pitchFamily="18" charset="0"/>
                        <a:ea typeface="SimSun"/>
                        <a:cs typeface="Times New Roman" pitchFamily="18" charset="0"/>
                      </a:endParaRPr>
                    </a:p>
                  </a:txBody>
                  <a:tcPr marL="36945" marR="36945" marT="24630" marB="246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Rectangle 1"/>
          <p:cNvSpPr>
            <a:spLocks noChangeArrowheads="1"/>
          </p:cNvSpPr>
          <p:nvPr/>
        </p:nvSpPr>
        <p:spPr bwMode="auto">
          <a:xfrm>
            <a:off x="5294313"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413232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C1FAD62-DCE4-9445-A355-B7EC8D30BD57}"/>
              </a:ext>
            </a:extLst>
          </p:cNvPr>
          <p:cNvSpPr txBox="1"/>
          <p:nvPr/>
        </p:nvSpPr>
        <p:spPr>
          <a:xfrm>
            <a:off x="403123" y="609600"/>
            <a:ext cx="11336593" cy="1043362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CONCLUSION:</a:t>
            </a:r>
          </a:p>
          <a:p>
            <a:pPr marL="342900" indent="-342900">
              <a:buFont typeface="Wingdings"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itchFamily="18" charset="0"/>
                <a:cs typeface="Times New Roman" pitchFamily="18" charset="0"/>
              </a:rPr>
              <a:t>Voice-Activated Dustbin</a:t>
            </a:r>
            <a:r>
              <a:rPr lang="en-US" sz="2400" dirty="0">
                <a:latin typeface="Times New Roman" pitchFamily="18" charset="0"/>
                <a:cs typeface="Times New Roman" pitchFamily="18" charset="0"/>
              </a:rPr>
              <a:t> is an </a:t>
            </a:r>
            <a:r>
              <a:rPr lang="en-US" sz="2400" b="1" dirty="0">
                <a:latin typeface="Times New Roman" pitchFamily="18" charset="0"/>
                <a:cs typeface="Times New Roman" pitchFamily="18" charset="0"/>
              </a:rPr>
              <a:t>innovative, hygienic, and user-friendly</a:t>
            </a:r>
            <a:r>
              <a:rPr lang="en-US" sz="2400" dirty="0">
                <a:latin typeface="Times New Roman" pitchFamily="18" charset="0"/>
                <a:cs typeface="Times New Roman" pitchFamily="18" charset="0"/>
              </a:rPr>
              <a:t> solution for waste disposal</a:t>
            </a:r>
            <a:r>
              <a:rPr lang="en-US" sz="2400" dirty="0" smtClean="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The system </a:t>
            </a:r>
            <a:r>
              <a:rPr lang="en-US" sz="2400" b="1" dirty="0">
                <a:latin typeface="Times New Roman" pitchFamily="18" charset="0"/>
                <a:cs typeface="Times New Roman" pitchFamily="18" charset="0"/>
              </a:rPr>
              <a:t>reduces direct contact</a:t>
            </a:r>
            <a:r>
              <a:rPr lang="en-US" sz="2400" dirty="0">
                <a:latin typeface="Times New Roman" pitchFamily="18" charset="0"/>
                <a:cs typeface="Times New Roman" pitchFamily="18" charset="0"/>
              </a:rPr>
              <a:t> with waste, minimizing </a:t>
            </a:r>
            <a:r>
              <a:rPr lang="en-US" sz="2400" b="1" dirty="0">
                <a:latin typeface="Times New Roman" pitchFamily="18" charset="0"/>
                <a:cs typeface="Times New Roman" pitchFamily="18" charset="0"/>
              </a:rPr>
              <a:t>health risks and contamination</a:t>
            </a:r>
            <a:r>
              <a:rPr lang="en-US" sz="2400" dirty="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high speech recognition accuracy</a:t>
            </a:r>
            <a:r>
              <a:rPr lang="en-US" sz="2400" dirty="0">
                <a:latin typeface="Times New Roman" pitchFamily="18" charset="0"/>
                <a:cs typeface="Times New Roman" pitchFamily="18" charset="0"/>
              </a:rPr>
              <a:t> (98% in quiet conditions, 85% in noisy conditions) ensures </a:t>
            </a:r>
            <a:r>
              <a:rPr lang="en-US" sz="2400" b="1" dirty="0">
                <a:latin typeface="Times New Roman" pitchFamily="18" charset="0"/>
                <a:cs typeface="Times New Roman" pitchFamily="18" charset="0"/>
              </a:rPr>
              <a:t>efficient operation in various environments</a:t>
            </a:r>
            <a:r>
              <a:rPr lang="en-US" sz="2400" dirty="0" smtClean="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automatic lid closure</a:t>
            </a:r>
            <a:r>
              <a:rPr lang="en-US" sz="2400" dirty="0">
                <a:latin typeface="Times New Roman" pitchFamily="18" charset="0"/>
                <a:cs typeface="Times New Roman" pitchFamily="18" charset="0"/>
              </a:rPr>
              <a:t> prevents </a:t>
            </a:r>
            <a:r>
              <a:rPr lang="en-US" sz="2400" b="1" dirty="0">
                <a:latin typeface="Times New Roman" pitchFamily="18" charset="0"/>
                <a:cs typeface="Times New Roman" pitchFamily="18" charset="0"/>
              </a:rPr>
              <a:t>odor spread, exposure to waste, and the growth of disease-causing bacteria</a:t>
            </a:r>
            <a:r>
              <a:rPr lang="en-US" sz="2400" dirty="0" smtClean="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The system has a </a:t>
            </a:r>
            <a:r>
              <a:rPr lang="en-US" sz="2400" b="1" dirty="0">
                <a:latin typeface="Times New Roman" pitchFamily="18" charset="0"/>
                <a:cs typeface="Times New Roman" pitchFamily="18" charset="0"/>
              </a:rPr>
              <a:t>fast response time (1.3 – 1.7 seconds)</a:t>
            </a:r>
            <a:r>
              <a:rPr lang="en-US" sz="2400" dirty="0">
                <a:latin typeface="Times New Roman" pitchFamily="18" charset="0"/>
                <a:cs typeface="Times New Roman" pitchFamily="18" charset="0"/>
              </a:rPr>
              <a:t>, making it an </a:t>
            </a:r>
            <a:r>
              <a:rPr lang="en-US" sz="2400" b="1" dirty="0">
                <a:latin typeface="Times New Roman" pitchFamily="18" charset="0"/>
                <a:cs typeface="Times New Roman" pitchFamily="18" charset="0"/>
              </a:rPr>
              <a:t>effective real-time solution</a:t>
            </a:r>
            <a:r>
              <a:rPr lang="en-US" sz="2400" dirty="0" smtClean="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Built with </a:t>
            </a:r>
            <a:r>
              <a:rPr lang="en-US" sz="2400" b="1" dirty="0">
                <a:latin typeface="Times New Roman" pitchFamily="18" charset="0"/>
                <a:cs typeface="Times New Roman" pitchFamily="18" charset="0"/>
              </a:rPr>
              <a:t>affordable and easily available components</a:t>
            </a:r>
            <a:r>
              <a:rPr lang="en-US" sz="2400" dirty="0">
                <a:latin typeface="Times New Roman" pitchFamily="18" charset="0"/>
                <a:cs typeface="Times New Roman" pitchFamily="18" charset="0"/>
              </a:rPr>
              <a:t>, it is a </a:t>
            </a:r>
            <a:r>
              <a:rPr lang="en-US" sz="2400" b="1" dirty="0">
                <a:latin typeface="Times New Roman" pitchFamily="18" charset="0"/>
                <a:cs typeface="Times New Roman" pitchFamily="18" charset="0"/>
              </a:rPr>
              <a:t>cost-effective and scalable</a:t>
            </a:r>
            <a:r>
              <a:rPr lang="en-US" sz="2400" dirty="0">
                <a:latin typeface="Times New Roman" pitchFamily="18" charset="0"/>
                <a:cs typeface="Times New Roman" pitchFamily="18" charset="0"/>
              </a:rPr>
              <a:t> solution for </a:t>
            </a:r>
            <a:r>
              <a:rPr lang="en-US" sz="2400" b="1" dirty="0">
                <a:latin typeface="Times New Roman" pitchFamily="18" charset="0"/>
                <a:cs typeface="Times New Roman" pitchFamily="18" charset="0"/>
              </a:rPr>
              <a:t>public and </a:t>
            </a:r>
            <a:r>
              <a:rPr lang="en-US" sz="2400" b="1" dirty="0" smtClean="0">
                <a:latin typeface="Times New Roman" pitchFamily="18" charset="0"/>
                <a:cs typeface="Times New Roman" pitchFamily="18" charset="0"/>
              </a:rPr>
              <a:t>household </a:t>
            </a:r>
            <a:r>
              <a:rPr lang="en-US" sz="2400" b="1" dirty="0">
                <a:latin typeface="Times New Roman" pitchFamily="18" charset="0"/>
                <a:cs typeface="Times New Roman" pitchFamily="18" charset="0"/>
              </a:rPr>
              <a:t>waste management</a:t>
            </a:r>
            <a:r>
              <a:rPr lang="en-US" sz="2400" dirty="0" smtClean="0">
                <a:latin typeface="Times New Roman" pitchFamily="18" charset="0"/>
                <a:cs typeface="Times New Roman" pitchFamily="18" charset="0"/>
              </a:rPr>
              <a:t>.</a:t>
            </a:r>
          </a:p>
          <a:p>
            <a:pPr marL="342900" indent="-342900">
              <a:buFont typeface="Wingdings" pitchFamily="2" charset="2"/>
              <a:buChar char="Ø"/>
            </a:pPr>
            <a:r>
              <a:rPr lang="en-US" sz="2400" dirty="0">
                <a:latin typeface="Times New Roman" pitchFamily="18" charset="0"/>
                <a:cs typeface="Times New Roman" pitchFamily="18" charset="0"/>
              </a:rPr>
              <a:t>The project successfully integrates </a:t>
            </a:r>
            <a:r>
              <a:rPr lang="en-US" sz="2400" b="1" dirty="0">
                <a:latin typeface="Times New Roman" pitchFamily="18" charset="0"/>
                <a:cs typeface="Times New Roman" pitchFamily="18" charset="0"/>
              </a:rPr>
              <a:t>voice recognition, automation, and environmental sustainability</a:t>
            </a:r>
            <a:r>
              <a:rPr lang="en-US" sz="2400" dirty="0">
                <a:latin typeface="Times New Roman" pitchFamily="18" charset="0"/>
                <a:cs typeface="Times New Roman" pitchFamily="18" charset="0"/>
              </a:rPr>
              <a:t>, encouraging </a:t>
            </a:r>
            <a:r>
              <a:rPr lang="en-US" sz="2400" b="1" dirty="0">
                <a:latin typeface="Times New Roman" pitchFamily="18" charset="0"/>
                <a:cs typeface="Times New Roman" pitchFamily="18" charset="0"/>
              </a:rPr>
              <a:t>smart waste management practices</a:t>
            </a:r>
            <a:r>
              <a:rPr lang="en-US" sz="2400" dirty="0">
                <a:latin typeface="Times New Roman" pitchFamily="18" charset="0"/>
                <a:cs typeface="Times New Roman" pitchFamily="18" charset="0"/>
              </a:rPr>
              <a:t>.</a:t>
            </a:r>
          </a:p>
          <a:p>
            <a:pPr marL="342900" indent="-342900">
              <a:buFont typeface="Wingdings" pitchFamily="2" charset="2"/>
              <a:buChar char="Ø"/>
            </a:pPr>
            <a:endParaRPr lang="en-US" sz="2400" dirty="0">
              <a:latin typeface="Times New Roman" pitchFamily="18" charset="0"/>
              <a:cs typeface="Times New Roman" pitchFamily="18" charset="0"/>
            </a:endParaRPr>
          </a:p>
          <a:p>
            <a:pPr marL="342900" indent="-342900" algn="just">
              <a:buFont typeface="Wingdings" panose="05000000000000000000" pitchFamily="2" charset="2"/>
              <a:buChar char="Ø"/>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206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B520A07-186A-860A-8D3F-6C665F858E45}"/>
              </a:ext>
            </a:extLst>
          </p:cNvPr>
          <p:cNvSpPr txBox="1"/>
          <p:nvPr/>
        </p:nvSpPr>
        <p:spPr>
          <a:xfrm>
            <a:off x="231493" y="439838"/>
            <a:ext cx="11729013" cy="1172628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REFRENCES</a:t>
            </a:r>
            <a:r>
              <a:rPr lang="en-US" sz="2800" b="1" dirty="0" smtClean="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r>
              <a:rPr lang="en-IN" sz="1400" b="1" dirty="0"/>
              <a:t>[1] </a:t>
            </a:r>
            <a:r>
              <a:rPr lang="en-IN" sz="1400" dirty="0"/>
              <a:t>C. </a:t>
            </a:r>
            <a:r>
              <a:rPr lang="en-IN" sz="1400" dirty="0" err="1"/>
              <a:t>Kolhatkar</a:t>
            </a:r>
            <a:r>
              <a:rPr lang="en-IN" sz="1400" dirty="0"/>
              <a:t>, B. Joshi, P. </a:t>
            </a:r>
            <a:r>
              <a:rPr lang="en-IN" sz="1400" dirty="0" err="1"/>
              <a:t>Choudhari</a:t>
            </a:r>
            <a:r>
              <a:rPr lang="en-IN" sz="1400" dirty="0"/>
              <a:t> and D. </a:t>
            </a:r>
            <a:r>
              <a:rPr lang="en-IN" sz="1400" dirty="0" err="1"/>
              <a:t>Bhuva</a:t>
            </a:r>
            <a:r>
              <a:rPr lang="en-IN" sz="1400" dirty="0"/>
              <a:t>, "Smart E-dustbin," 2018 International Conference on Smart City and Emerging Technology (ICSCET), Mumbai, India, 2018, pp. 1-3, </a:t>
            </a:r>
            <a:r>
              <a:rPr lang="en-IN" sz="1400" dirty="0" err="1"/>
              <a:t>doi</a:t>
            </a:r>
            <a:r>
              <a:rPr lang="en-IN" sz="1400" dirty="0"/>
              <a:t>: 10.1109/ICSCET.2018.8537245.</a:t>
            </a:r>
          </a:p>
          <a:p>
            <a:r>
              <a:rPr lang="en-IN" sz="1400" b="1" dirty="0"/>
              <a:t>[2] </a:t>
            </a:r>
            <a:r>
              <a:rPr lang="en-IN" sz="1400" dirty="0"/>
              <a:t>V. B. </a:t>
            </a:r>
            <a:r>
              <a:rPr lang="en-IN" sz="1400" dirty="0" err="1"/>
              <a:t>Shalini</a:t>
            </a:r>
            <a:r>
              <a:rPr lang="en-IN" sz="1400" dirty="0"/>
              <a:t>, "Smart Health Care Monitoring System based on Internet of Things (IOT)," 2021 International Conference on Artificial Intelligence and Smart Systems (ICAIS), Coimbatore, India, 2021, pp. 1449-1453, </a:t>
            </a:r>
            <a:r>
              <a:rPr lang="en-IN" sz="1400" dirty="0" err="1"/>
              <a:t>doi</a:t>
            </a:r>
            <a:r>
              <a:rPr lang="en-IN" sz="1400" dirty="0"/>
              <a:t>: 10.1109/ICAIS50930.2021.9396019.</a:t>
            </a:r>
          </a:p>
          <a:p>
            <a:r>
              <a:rPr lang="en-IN" sz="1400" b="1" dirty="0"/>
              <a:t>[3]</a:t>
            </a:r>
            <a:r>
              <a:rPr lang="en-IN" sz="1400" dirty="0"/>
              <a:t> J. </a:t>
            </a:r>
            <a:r>
              <a:rPr lang="en-IN" sz="1400" dirty="0" err="1"/>
              <a:t>Subhashini</a:t>
            </a:r>
            <a:r>
              <a:rPr lang="en-IN" sz="1400" dirty="0"/>
              <a:t>, </a:t>
            </a:r>
            <a:r>
              <a:rPr lang="en-IN" sz="1400" dirty="0" err="1"/>
              <a:t>Aayush</a:t>
            </a:r>
            <a:r>
              <a:rPr lang="en-IN" sz="1400" dirty="0"/>
              <a:t> Sharma, </a:t>
            </a:r>
            <a:r>
              <a:rPr lang="en-IN" sz="1400" dirty="0" err="1"/>
              <a:t>Budhaditya</a:t>
            </a:r>
            <a:r>
              <a:rPr lang="en-IN" sz="1400" dirty="0"/>
              <a:t> </a:t>
            </a:r>
            <a:r>
              <a:rPr lang="en-IN" sz="1400" dirty="0" err="1"/>
              <a:t>Dutta</a:t>
            </a:r>
            <a:r>
              <a:rPr lang="en-IN" sz="1400" dirty="0"/>
              <a:t>, </a:t>
            </a:r>
            <a:r>
              <a:rPr lang="en-IN" sz="1400" dirty="0" err="1"/>
              <a:t>Varnit</a:t>
            </a:r>
            <a:r>
              <a:rPr lang="en-IN" sz="1400" dirty="0"/>
              <a:t> Vijay, </a:t>
            </a:r>
            <a:r>
              <a:rPr lang="en-IN" sz="1400" dirty="0" err="1"/>
              <a:t>Shivam</a:t>
            </a:r>
            <a:r>
              <a:rPr lang="en-IN" sz="1400" dirty="0"/>
              <a:t> </a:t>
            </a:r>
            <a:r>
              <a:rPr lang="en-IN" sz="1400" dirty="0" err="1"/>
              <a:t>Verma</a:t>
            </a:r>
            <a:r>
              <a:rPr lang="en-IN" sz="1400" dirty="0"/>
              <a:t>; Voice-controlled movable smart dustbin. AIP Conf. Proc. 9 May 2022; 2357 (1): 020004.doi.org/10.1063/5.0080551 </a:t>
            </a:r>
          </a:p>
          <a:p>
            <a:r>
              <a:rPr lang="en-IN" sz="1400" b="1" dirty="0"/>
              <a:t>[4] </a:t>
            </a:r>
            <a:r>
              <a:rPr lang="en-IN" sz="1400" dirty="0"/>
              <a:t>V. B. </a:t>
            </a:r>
            <a:r>
              <a:rPr lang="en-IN" sz="1400" dirty="0" err="1"/>
              <a:t>Shalini</a:t>
            </a:r>
            <a:r>
              <a:rPr lang="en-IN" sz="1400" dirty="0"/>
              <a:t>, P. </a:t>
            </a:r>
            <a:r>
              <a:rPr lang="en-IN" sz="1400" dirty="0" err="1"/>
              <a:t>Meghana</a:t>
            </a:r>
            <a:r>
              <a:rPr lang="en-IN" sz="1400" dirty="0"/>
              <a:t>, K. </a:t>
            </a:r>
            <a:r>
              <a:rPr lang="en-IN" sz="1400" dirty="0" err="1"/>
              <a:t>Pavan</a:t>
            </a:r>
            <a:r>
              <a:rPr lang="en-IN" sz="1400" dirty="0"/>
              <a:t>, Y. N. </a:t>
            </a:r>
            <a:r>
              <a:rPr lang="en-IN" sz="1400" dirty="0" err="1"/>
              <a:t>Likhitha</a:t>
            </a:r>
            <a:r>
              <a:rPr lang="en-IN" sz="1400" dirty="0"/>
              <a:t>, T. G. </a:t>
            </a:r>
            <a:r>
              <a:rPr lang="en-IN" sz="1400" dirty="0" err="1"/>
              <a:t>Advitiya</a:t>
            </a:r>
            <a:r>
              <a:rPr lang="en-IN" sz="1400" dirty="0"/>
              <a:t> and R. V. </a:t>
            </a:r>
            <a:r>
              <a:rPr lang="en-IN" sz="1400" dirty="0" err="1"/>
              <a:t>Manohar</a:t>
            </a:r>
            <a:r>
              <a:rPr lang="en-IN" sz="1400" dirty="0"/>
              <a:t>, "</a:t>
            </a:r>
            <a:r>
              <a:rPr lang="en-IN" sz="1400" dirty="0" err="1"/>
              <a:t>IoT</a:t>
            </a:r>
            <a:r>
              <a:rPr lang="en-IN" sz="1400" dirty="0"/>
              <a:t> Powered Smart Glucose Monitoring System for Geriatric Person," 2024 8th International Conference on I-SMAC (</a:t>
            </a:r>
            <a:r>
              <a:rPr lang="en-IN" sz="1400" dirty="0" err="1"/>
              <a:t>IoT</a:t>
            </a:r>
            <a:r>
              <a:rPr lang="en-IN" sz="1400" dirty="0"/>
              <a:t> in Social, Mobile, Analytics and Cloud) (I-SMAC), </a:t>
            </a:r>
            <a:r>
              <a:rPr lang="en-IN" sz="1400" dirty="0" err="1"/>
              <a:t>Kirtipur</a:t>
            </a:r>
            <a:r>
              <a:rPr lang="en-IN" sz="1400" dirty="0"/>
              <a:t>, Nepal, 2024, pp. 117-121, </a:t>
            </a:r>
            <a:r>
              <a:rPr lang="en-IN" sz="1400" dirty="0" err="1"/>
              <a:t>doi</a:t>
            </a:r>
            <a:r>
              <a:rPr lang="en-IN" sz="1400" dirty="0"/>
              <a:t>: 10.1109/I-SMAC61858.2024.10714751.</a:t>
            </a:r>
          </a:p>
          <a:p>
            <a:r>
              <a:rPr lang="en-IN" sz="1400" b="1" dirty="0"/>
              <a:t>[5] </a:t>
            </a:r>
            <a:r>
              <a:rPr lang="en-IN" sz="1400" dirty="0"/>
              <a:t>Singh, A. Gupta, and S. Raj, “</a:t>
            </a:r>
            <a:r>
              <a:rPr lang="en-IN" sz="1400" dirty="0" err="1"/>
              <a:t>IoT</a:t>
            </a:r>
            <a:r>
              <a:rPr lang="en-IN" sz="1400" dirty="0"/>
              <a:t> Based Smart Waste Management System Using </a:t>
            </a:r>
            <a:r>
              <a:rPr lang="en-IN" sz="1400" dirty="0" err="1"/>
              <a:t>Arduino</a:t>
            </a:r>
            <a:r>
              <a:rPr lang="en-IN" sz="1400" dirty="0"/>
              <a:t>,” in International Journal Of Research in Engineering, Science </a:t>
            </a:r>
          </a:p>
          <a:p>
            <a:r>
              <a:rPr lang="en-IN" sz="1400" dirty="0"/>
              <a:t>and Management, vol. 3, no. 5, pp. 569-571, May 2020.</a:t>
            </a:r>
          </a:p>
          <a:p>
            <a:r>
              <a:rPr lang="en-IN" sz="1400" b="1" dirty="0"/>
              <a:t>[6] </a:t>
            </a:r>
            <a:r>
              <a:rPr lang="en-IN" sz="1400" dirty="0" err="1"/>
              <a:t>Harith</a:t>
            </a:r>
            <a:r>
              <a:rPr lang="en-IN" sz="1400" dirty="0"/>
              <a:t>, Muhammad &amp; </a:t>
            </a:r>
            <a:r>
              <a:rPr lang="en-IN" sz="1400" dirty="0" err="1"/>
              <a:t>Hossain</a:t>
            </a:r>
            <a:r>
              <a:rPr lang="en-IN" sz="1400" dirty="0"/>
              <a:t>, Mohammad </a:t>
            </a:r>
            <a:r>
              <a:rPr lang="en-IN" sz="1400" dirty="0" err="1"/>
              <a:t>Asif</a:t>
            </a:r>
            <a:r>
              <a:rPr lang="en-IN" sz="1400" dirty="0"/>
              <a:t> &amp; </a:t>
            </a:r>
            <a:r>
              <a:rPr lang="en-IN" sz="1400" dirty="0" err="1"/>
              <a:t>Ahmedy</a:t>
            </a:r>
            <a:r>
              <a:rPr lang="en-IN" sz="1400" dirty="0"/>
              <a:t>, Ismail &amp; </a:t>
            </a:r>
            <a:r>
              <a:rPr lang="en-IN" sz="1400" dirty="0" err="1"/>
              <a:t>Idris</a:t>
            </a:r>
            <a:r>
              <a:rPr lang="en-IN" sz="1400" dirty="0"/>
              <a:t>, </a:t>
            </a:r>
            <a:r>
              <a:rPr lang="en-IN" sz="1400" dirty="0" err="1"/>
              <a:t>Mohd</a:t>
            </a:r>
            <a:r>
              <a:rPr lang="en-IN" sz="1400" dirty="0"/>
              <a:t> &amp; Soon, </a:t>
            </a:r>
            <a:r>
              <a:rPr lang="en-IN" sz="1400" dirty="0" err="1"/>
              <a:t>Tey</a:t>
            </a:r>
            <a:r>
              <a:rPr lang="en-IN" sz="1400" dirty="0"/>
              <a:t> &amp; Md. Noor, </a:t>
            </a:r>
            <a:r>
              <a:rPr lang="en-IN" sz="1400" dirty="0" err="1"/>
              <a:t>Rafidah</a:t>
            </a:r>
            <a:r>
              <a:rPr lang="en-IN" sz="1400" dirty="0"/>
              <a:t>. (2020). Prototype Development of </a:t>
            </a:r>
            <a:r>
              <a:rPr lang="en-IN" sz="1400" dirty="0" err="1"/>
              <a:t>IoT</a:t>
            </a:r>
            <a:r>
              <a:rPr lang="en-IN" sz="1400" dirty="0"/>
              <a:t> </a:t>
            </a:r>
          </a:p>
          <a:p>
            <a:r>
              <a:rPr lang="en-IN" sz="1400" dirty="0"/>
              <a:t>Based Smart Waste Management System for Smart City. IOP Conference Series: Materials Science and Engineering. 884. 012051. 10.1088/1757-899X/884/1/012051. </a:t>
            </a:r>
          </a:p>
          <a:p>
            <a:r>
              <a:rPr lang="en-IN" sz="1400" b="1" dirty="0"/>
              <a:t>[7] </a:t>
            </a:r>
            <a:r>
              <a:rPr lang="en-IN" sz="1400" dirty="0"/>
              <a:t>W. </a:t>
            </a:r>
            <a:r>
              <a:rPr lang="en-IN" sz="1400" dirty="0" err="1"/>
              <a:t>Nasar</a:t>
            </a:r>
            <a:r>
              <a:rPr lang="en-IN" sz="1400" dirty="0"/>
              <a:t>, A. </a:t>
            </a:r>
            <a:r>
              <a:rPr lang="en-IN" sz="1400" dirty="0" err="1"/>
              <a:t>Karlsen</a:t>
            </a:r>
            <a:r>
              <a:rPr lang="en-IN" sz="1400" dirty="0"/>
              <a:t>, and I. </a:t>
            </a:r>
            <a:r>
              <a:rPr lang="en-IN" sz="1400" dirty="0" err="1"/>
              <a:t>Hameed</a:t>
            </a:r>
            <a:r>
              <a:rPr lang="en-IN" sz="1400" dirty="0"/>
              <a:t>, "A Conceptual Model of an </a:t>
            </a:r>
            <a:r>
              <a:rPr lang="en-IN" sz="1400" dirty="0" err="1"/>
              <a:t>IoT</a:t>
            </a:r>
            <a:r>
              <a:rPr lang="en-IN" sz="1400" dirty="0"/>
              <a:t>-Based Smart and Sustainable Solid Waste Management System: A Case Study of a Norwegian Municipality," Communications of the ECMS, vol. 34, no. 1, 2020. DOI: 10.7148/2020-0019. ISBN: 978-3-937436-68-5.</a:t>
            </a:r>
          </a:p>
          <a:p>
            <a:r>
              <a:rPr lang="en-IN" sz="1400" b="1" dirty="0"/>
              <a:t>[8</a:t>
            </a:r>
            <a:r>
              <a:rPr lang="en-IN" sz="1400" dirty="0"/>
              <a:t>] </a:t>
            </a:r>
            <a:r>
              <a:rPr lang="en-IN" sz="1400" dirty="0" err="1"/>
              <a:t>VikrantBhor</a:t>
            </a:r>
            <a:r>
              <a:rPr lang="en-IN" sz="1400" dirty="0"/>
              <a:t>, </a:t>
            </a:r>
            <a:r>
              <a:rPr lang="en-IN" sz="1400" dirty="0" err="1"/>
              <a:t>Pankaj</a:t>
            </a:r>
            <a:r>
              <a:rPr lang="en-IN" sz="1400" dirty="0"/>
              <a:t> </a:t>
            </a:r>
            <a:r>
              <a:rPr lang="en-IN" sz="1400" dirty="0" err="1"/>
              <a:t>Morajkar</a:t>
            </a:r>
            <a:r>
              <a:rPr lang="en-IN" sz="1400" dirty="0"/>
              <a:t>, </a:t>
            </a:r>
            <a:r>
              <a:rPr lang="en-IN" sz="1400" dirty="0" err="1"/>
              <a:t>Maheshwar</a:t>
            </a:r>
            <a:r>
              <a:rPr lang="en-IN" sz="1400" dirty="0"/>
              <a:t> </a:t>
            </a:r>
            <a:r>
              <a:rPr lang="en-IN" sz="1400" dirty="0" err="1"/>
              <a:t>Gurav</a:t>
            </a:r>
            <a:r>
              <a:rPr lang="en-IN" sz="1400" dirty="0"/>
              <a:t>, </a:t>
            </a:r>
            <a:r>
              <a:rPr lang="en-IN" sz="1400" dirty="0" err="1"/>
              <a:t>Dishant</a:t>
            </a:r>
            <a:r>
              <a:rPr lang="en-IN" sz="1400" dirty="0"/>
              <a:t> </a:t>
            </a:r>
            <a:r>
              <a:rPr lang="en-IN" sz="1400" dirty="0" err="1"/>
              <a:t>Pandya</a:t>
            </a:r>
            <a:r>
              <a:rPr lang="en-IN" sz="1400" dirty="0"/>
              <a:t>, “A Smart Garbage Management System”, International Journal Of Engineering </a:t>
            </a:r>
          </a:p>
          <a:p>
            <a:r>
              <a:rPr lang="en-IN" sz="1400" dirty="0"/>
              <a:t>Research &amp; Technology (IJERT), Vol. 04, Issue 03, March 2015, Google Scholar.</a:t>
            </a:r>
          </a:p>
          <a:p>
            <a:r>
              <a:rPr lang="en-IN" sz="1400" b="1" dirty="0"/>
              <a:t>[9</a:t>
            </a:r>
            <a:r>
              <a:rPr lang="en-IN" sz="1400" dirty="0"/>
              <a:t>] </a:t>
            </a:r>
            <a:r>
              <a:rPr lang="en-IN" sz="1400" dirty="0" err="1"/>
              <a:t>S.S.Navghane</a:t>
            </a:r>
            <a:r>
              <a:rPr lang="en-IN" sz="1400" dirty="0"/>
              <a:t>, M.S. </a:t>
            </a:r>
            <a:r>
              <a:rPr lang="en-IN" sz="1400" dirty="0" err="1"/>
              <a:t>Killedar</a:t>
            </a:r>
            <a:r>
              <a:rPr lang="en-IN" sz="1400" dirty="0"/>
              <a:t>, </a:t>
            </a:r>
            <a:r>
              <a:rPr lang="en-IN" sz="1400" dirty="0" err="1"/>
              <a:t>Dr.V.M</a:t>
            </a:r>
            <a:r>
              <a:rPr lang="en-IN" sz="1400" dirty="0"/>
              <a:t>. </a:t>
            </a:r>
            <a:r>
              <a:rPr lang="en-IN" sz="1400" dirty="0" err="1"/>
              <a:t>Rohokale</a:t>
            </a:r>
            <a:r>
              <a:rPr lang="en-IN" sz="1400" dirty="0"/>
              <a:t>, “</a:t>
            </a:r>
            <a:r>
              <a:rPr lang="en-IN" sz="1400" dirty="0" err="1"/>
              <a:t>IoT</a:t>
            </a:r>
            <a:r>
              <a:rPr lang="en-IN" sz="1400" dirty="0"/>
              <a:t> Based Garbage and Waste Collection Bin”, International Journal of Advanced Research in </a:t>
            </a:r>
          </a:p>
          <a:p>
            <a:r>
              <a:rPr lang="en-IN" sz="1400" dirty="0"/>
              <a:t>Electronics and Communication Engineering (IJARECE), Vol. 5, Issue 5, May 2016. Google Scholar.</a:t>
            </a:r>
          </a:p>
          <a:p>
            <a:r>
              <a:rPr lang="en-IN" sz="1400" b="1" dirty="0"/>
              <a:t>[10]</a:t>
            </a:r>
            <a:r>
              <a:rPr lang="en-IN" sz="1400" dirty="0"/>
              <a:t> </a:t>
            </a:r>
            <a:r>
              <a:rPr lang="en-IN" sz="1400" dirty="0" err="1"/>
              <a:t>VineethTeeda</a:t>
            </a:r>
            <a:r>
              <a:rPr lang="en-IN" sz="1400" dirty="0"/>
              <a:t>, </a:t>
            </a:r>
            <a:r>
              <a:rPr lang="en-IN" sz="1400" dirty="0" err="1"/>
              <a:t>K.Sujatha</a:t>
            </a:r>
            <a:r>
              <a:rPr lang="en-IN" sz="1400" dirty="0"/>
              <a:t>, </a:t>
            </a:r>
            <a:r>
              <a:rPr lang="en-IN" sz="1400" dirty="0" err="1"/>
              <a:t>Rakesh</a:t>
            </a:r>
            <a:r>
              <a:rPr lang="en-IN" sz="1400" dirty="0"/>
              <a:t> </a:t>
            </a:r>
            <a:r>
              <a:rPr lang="en-IN" sz="1400" dirty="0" err="1"/>
              <a:t>Mutukuru</a:t>
            </a:r>
            <a:r>
              <a:rPr lang="en-IN" sz="1400" dirty="0"/>
              <a:t>, “A Voice Controlled Robot using </a:t>
            </a:r>
            <a:r>
              <a:rPr lang="en-IN" sz="1400" dirty="0" err="1"/>
              <a:t>Arduino</a:t>
            </a:r>
            <a:r>
              <a:rPr lang="en-IN" sz="1400" dirty="0"/>
              <a:t>”, International Journal of Engineering and Advanced </a:t>
            </a:r>
          </a:p>
          <a:p>
            <a:r>
              <a:rPr lang="en-IN" sz="1400" dirty="0"/>
              <a:t>Technology (IJEAT), ISSN: 2249 – 8958, Vol. 5, Issue-6, August 2016. Google Scholar.</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901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F62EDEA-079A-8FDF-2362-23C4DFFD60ED}"/>
              </a:ext>
            </a:extLst>
          </p:cNvPr>
          <p:cNvSpPr txBox="1"/>
          <p:nvPr/>
        </p:nvSpPr>
        <p:spPr>
          <a:xfrm>
            <a:off x="412955" y="1278194"/>
            <a:ext cx="11071122" cy="249299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4400" dirty="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0323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1162</Words>
  <Application>Microsoft Office PowerPoint</Application>
  <PresentationFormat>Custom</PresentationFormat>
  <Paragraphs>209</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 Smart Voice-Activated Dustbin: A Step Towards Intelligent Waste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Voice-Activated Dustbin: A Step Towards Intelligent Waste Management</dc:title>
  <dc:creator>Sowmiya Nagaraj</dc:creator>
  <cp:lastModifiedBy>ASUS</cp:lastModifiedBy>
  <cp:revision>12</cp:revision>
  <dcterms:created xsi:type="dcterms:W3CDTF">2025-03-26T16:19:30Z</dcterms:created>
  <dcterms:modified xsi:type="dcterms:W3CDTF">2025-04-13T17:17:24Z</dcterms:modified>
</cp:coreProperties>
</file>